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upport.microsoft.com/en-us/office/start-with-a-template-d3d4aca5-e965-45eb-9423-c34e61b34616?utm_source=chatgpt.com" TargetMode="External"/><Relationship Id="rId2" Type="http://schemas.openxmlformats.org/officeDocument/2006/relationships/hyperlink" Target="https://support.microsoft.com/en-us/office/what-is-powerpoint-589c860d-d199-4a85-ad1b-4b7401facd5b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503920" y="640080"/>
            <a:ext cx="2743200" cy="2743200"/>
          </a:xfrm>
          <a:prstGeom prst="ellipse">
            <a:avLst/>
          </a:prstGeom>
          <a:solidFill>
            <a:srgbClr val="E1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418320" y="3291840"/>
            <a:ext cx="1828800" cy="1828800"/>
          </a:xfrm>
          <a:prstGeom prst="ellipse">
            <a:avLst/>
          </a:prstGeom>
          <a:solidFill>
            <a:srgbClr val="FFD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680960" y="4389120"/>
            <a:ext cx="1280160" cy="1280160"/>
          </a:xfrm>
          <a:prstGeom prst="ellipse">
            <a:avLst/>
          </a:prstGeom>
          <a:solidFill>
            <a:srgbClr val="F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7132320" cy="54864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r>
              <a:rPr sz="1600" b="1">
                <a:solidFill>
                  <a:srgbClr val="F2893E"/>
                </a:solidFill>
                <a:latin typeface="Aptos"/>
              </a:rPr>
              <a:t>TEAM THINK TANK • GRADE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7132320" cy="137160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r>
              <a:rPr sz="3400" b="1">
                <a:solidFill>
                  <a:srgbClr val="194366"/>
                </a:solidFill>
                <a:latin typeface="Aptos"/>
              </a:rPr>
              <a:t>OUR COMMUNITY HERO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6858000" cy="7315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r>
              <a:rPr sz="3000" b="1">
                <a:solidFill>
                  <a:srgbClr val="1F9787"/>
                </a:solidFill>
                <a:latin typeface="Aptos"/>
              </a:rPr>
              <a:t>The Safai Mitra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657600"/>
            <a:ext cx="6492240" cy="91440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r>
              <a:rPr sz="2200" b="0">
                <a:solidFill>
                  <a:srgbClr val="2B353D"/>
                </a:solidFill>
                <a:latin typeface="Aptos"/>
              </a:rPr>
              <a:t>The people who help keep our streets and neighbourhoods clean!</a:t>
            </a:r>
          </a:p>
        </p:txBody>
      </p:sp>
      <p:sp>
        <p:nvSpPr>
          <p:cNvPr id="10" name="Oval 9"/>
          <p:cNvSpPr/>
          <p:nvPr/>
        </p:nvSpPr>
        <p:spPr>
          <a:xfrm>
            <a:off x="8732520" y="1325880"/>
            <a:ext cx="731520" cy="731520"/>
          </a:xfrm>
          <a:prstGeom prst="ellipse">
            <a:avLst/>
          </a:prstGeom>
          <a:solidFill>
            <a:srgbClr val="BE80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549640" y="2057400"/>
            <a:ext cx="1097280" cy="1508760"/>
          </a:xfrm>
          <a:prstGeom prst="roundRect">
            <a:avLst/>
          </a:prstGeom>
          <a:solidFill>
            <a:srgbClr val="1F9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705088" y="3383280"/>
            <a:ext cx="228600" cy="914400"/>
          </a:xfrm>
          <a:prstGeom prst="rect">
            <a:avLst/>
          </a:prstGeom>
          <a:solidFill>
            <a:srgbClr val="194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144000" y="3383280"/>
            <a:ext cx="228600" cy="914400"/>
          </a:xfrm>
          <a:prstGeom prst="rect">
            <a:avLst/>
          </a:prstGeom>
          <a:solidFill>
            <a:srgbClr val="194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 rot="1200000">
            <a:off x="9829800" y="1828800"/>
            <a:ext cx="109728" cy="2377440"/>
          </a:xfrm>
          <a:prstGeom prst="rect">
            <a:avLst/>
          </a:prstGeom>
          <a:solidFill>
            <a:srgbClr val="F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rapezoid 14"/>
          <p:cNvSpPr/>
          <p:nvPr/>
        </p:nvSpPr>
        <p:spPr>
          <a:xfrm rot="10800000">
            <a:off x="9555480" y="3886200"/>
            <a:ext cx="777240" cy="457200"/>
          </a:xfrm>
          <a:prstGeom prst="trapezoid">
            <a:avLst/>
          </a:prstGeom>
          <a:solidFill>
            <a:srgbClr val="F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5989320"/>
            <a:ext cx="9601200" cy="32004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r>
              <a:rPr sz="1500" b="1">
                <a:solidFill>
                  <a:srgbClr val="194366"/>
                </a:solidFill>
                <a:latin typeface="Aptos"/>
              </a:rPr>
              <a:t>Let’s learn why their work matters—and how we can show respect.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789920" cy="5029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r>
              <a:rPr sz="2700" b="1" dirty="0">
                <a:solidFill>
                  <a:srgbClr val="194366"/>
                </a:solidFill>
                <a:latin typeface="Aptos"/>
              </a:rPr>
              <a:t>Who is a </a:t>
            </a:r>
            <a:r>
              <a:rPr sz="2700" b="1" dirty="0" err="1">
                <a:solidFill>
                  <a:srgbClr val="194366"/>
                </a:solidFill>
                <a:latin typeface="Aptos"/>
              </a:rPr>
              <a:t>Safai</a:t>
            </a:r>
            <a:r>
              <a:rPr sz="2700" b="1" dirty="0">
                <a:solidFill>
                  <a:srgbClr val="194366"/>
                </a:solidFill>
                <a:latin typeface="Aptos"/>
              </a:rPr>
              <a:t> Mitra?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32104"/>
            <a:ext cx="1188720" cy="64008"/>
          </a:xfrm>
          <a:prstGeom prst="rect">
            <a:avLst/>
          </a:prstGeom>
          <a:solidFill>
            <a:srgbClr val="F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r"/>
            <a:r>
              <a:rPr sz="1000" b="1">
                <a:solidFill>
                  <a:srgbClr val="194366"/>
                </a:solidFill>
                <a:latin typeface="Aptos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5760720" cy="64008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r>
              <a:rPr sz="2500" b="1" dirty="0">
                <a:solidFill>
                  <a:srgbClr val="1F9787"/>
                </a:solidFill>
                <a:latin typeface="Aptos"/>
              </a:rPr>
              <a:t>A </a:t>
            </a:r>
            <a:r>
              <a:rPr sz="2500" b="1" dirty="0" err="1">
                <a:solidFill>
                  <a:srgbClr val="1F9787"/>
                </a:solidFill>
                <a:latin typeface="Aptos"/>
              </a:rPr>
              <a:t>Safai</a:t>
            </a:r>
            <a:r>
              <a:rPr sz="2500" b="1" dirty="0">
                <a:solidFill>
                  <a:srgbClr val="1F9787"/>
                </a:solidFill>
                <a:latin typeface="Aptos"/>
              </a:rPr>
              <a:t> Mitra is a cleanliness worker.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5852160" cy="3291840"/>
          </a:xfrm>
          <a:prstGeom prst="rect">
            <a:avLst/>
          </a:prstGeom>
          <a:noFill/>
        </p:spPr>
        <p:txBody>
          <a:bodyPr wrap="square" rIns="45720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B353D"/>
                </a:solidFill>
                <a:latin typeface="Aptos"/>
              </a:defRPr>
            </a:pPr>
            <a:r>
              <a:rPr dirty="0"/>
              <a:t>•  They help clean streets and public places.</a:t>
            </a:r>
          </a:p>
          <a:p>
            <a:pPr>
              <a:spcAft>
                <a:spcPts val="1200"/>
              </a:spcAft>
              <a:defRPr sz="2100">
                <a:solidFill>
                  <a:srgbClr val="2B353D"/>
                </a:solidFill>
                <a:latin typeface="Aptos"/>
              </a:defRPr>
            </a:pPr>
            <a:r>
              <a:rPr dirty="0"/>
              <a:t>•  They collect and sort waste.</a:t>
            </a:r>
          </a:p>
          <a:p>
            <a:pPr>
              <a:spcAft>
                <a:spcPts val="1200"/>
              </a:spcAft>
              <a:defRPr sz="2100">
                <a:solidFill>
                  <a:srgbClr val="2B353D"/>
                </a:solidFill>
                <a:latin typeface="Aptos"/>
              </a:defRPr>
            </a:pPr>
            <a:r>
              <a:rPr dirty="0"/>
              <a:t>•  Their work helps make our </a:t>
            </a:r>
            <a:r>
              <a:rPr dirty="0" err="1"/>
              <a:t>neighbourhood</a:t>
            </a:r>
            <a:r>
              <a:rPr dirty="0"/>
              <a:t> cleaner and healthier.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95160" y="1417320"/>
            <a:ext cx="4297680" cy="3566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289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59752" y="1527048"/>
            <a:ext cx="3968496" cy="38404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r>
              <a:rPr sz="1900" b="1">
                <a:solidFill>
                  <a:srgbClr val="F2893E"/>
                </a:solidFill>
                <a:latin typeface="Aptos"/>
              </a:rPr>
              <a:t>Remember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59752" y="1984248"/>
            <a:ext cx="3968496" cy="2907791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r>
              <a:rPr sz="1600" b="0">
                <a:solidFill>
                  <a:srgbClr val="2B353D"/>
                </a:solidFill>
                <a:latin typeface="Aptos"/>
              </a:rPr>
              <a:t>A clean community needs teamwork. Safai Mitras do important work, and every one of us has a part to play.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480" y="5257800"/>
            <a:ext cx="3657600" cy="54864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ctr"/>
            <a:r>
              <a:rPr sz="2000" b="1">
                <a:solidFill>
                  <a:srgbClr val="194366"/>
                </a:solidFill>
                <a:latin typeface="Aptos"/>
              </a:rPr>
              <a:t>Clean spaces are for everyone!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789920" cy="5029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r>
              <a:rPr sz="2700" b="1">
                <a:solidFill>
                  <a:srgbClr val="194366"/>
                </a:solidFill>
                <a:latin typeface="Aptos"/>
              </a:rPr>
              <a:t>A day at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32104"/>
            <a:ext cx="1188720" cy="64008"/>
          </a:xfrm>
          <a:prstGeom prst="rect">
            <a:avLst/>
          </a:prstGeom>
          <a:solidFill>
            <a:srgbClr val="F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r"/>
            <a:r>
              <a:rPr sz="1000" b="1">
                <a:solidFill>
                  <a:srgbClr val="194366"/>
                </a:solidFill>
                <a:latin typeface="Aptos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342900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9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1" y="1435607"/>
            <a:ext cx="3099816" cy="38404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r>
              <a:rPr sz="1900" b="1">
                <a:solidFill>
                  <a:srgbClr val="1F9787"/>
                </a:solidFill>
                <a:latin typeface="Aptos"/>
              </a:rPr>
              <a:t>1. Collect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1892807"/>
            <a:ext cx="3099816" cy="2816352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r>
              <a:rPr sz="1600" b="0">
                <a:solidFill>
                  <a:srgbClr val="2B353D"/>
                </a:solidFill>
                <a:latin typeface="Aptos"/>
              </a:rPr>
              <a:t>They collect rubbish from homes, streets or public places.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25880"/>
            <a:ext cx="342900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289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53712" y="1435607"/>
            <a:ext cx="3099816" cy="38404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r>
              <a:rPr sz="1900" b="1">
                <a:solidFill>
                  <a:srgbClr val="F2893E"/>
                </a:solidFill>
                <a:latin typeface="Aptos"/>
              </a:rPr>
              <a:t>2. Sort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1892807"/>
            <a:ext cx="3099816" cy="2816352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r>
              <a:rPr sz="1600" b="0">
                <a:solidFill>
                  <a:srgbClr val="2B353D"/>
                </a:solidFill>
                <a:latin typeface="Aptos"/>
              </a:rPr>
              <a:t>Waste can be separated into wet waste and dry waste.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325880"/>
            <a:ext cx="342900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94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02752" y="1435607"/>
            <a:ext cx="3099816" cy="38404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r>
              <a:rPr sz="1900" b="1">
                <a:solidFill>
                  <a:srgbClr val="194366"/>
                </a:solidFill>
                <a:latin typeface="Aptos"/>
              </a:rPr>
              <a:t>3. Keep safe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1892807"/>
            <a:ext cx="3099816" cy="2816352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r>
              <a:rPr sz="1600" b="0">
                <a:solidFill>
                  <a:srgbClr val="2B353D"/>
                </a:solidFill>
                <a:latin typeface="Aptos"/>
              </a:rPr>
              <a:t>Workers should have proper tools, training and safety equipment.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303520"/>
            <a:ext cx="10241280" cy="64008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ctr"/>
            <a:r>
              <a:rPr sz="1900" b="1">
                <a:solidFill>
                  <a:srgbClr val="F2893E"/>
                </a:solidFill>
                <a:latin typeface="Aptos"/>
              </a:rPr>
              <a:t>Never touch unknown waste or sharp objects. Tell a trusted adult.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789920" cy="5029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r>
              <a:rPr sz="2700" b="1">
                <a:solidFill>
                  <a:srgbClr val="194366"/>
                </a:solidFill>
                <a:latin typeface="Aptos"/>
              </a:rPr>
              <a:t>How do they help our community?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32104"/>
            <a:ext cx="1188720" cy="64008"/>
          </a:xfrm>
          <a:prstGeom prst="rect">
            <a:avLst/>
          </a:prstGeom>
          <a:solidFill>
            <a:srgbClr val="F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r"/>
            <a:r>
              <a:rPr sz="1000" b="1">
                <a:solidFill>
                  <a:srgbClr val="194366"/>
                </a:solidFill>
                <a:latin typeface="Aptos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6400800" cy="4206240"/>
          </a:xfrm>
          <a:prstGeom prst="rect">
            <a:avLst/>
          </a:prstGeom>
          <a:noFill/>
        </p:spPr>
        <p:txBody>
          <a:bodyPr wrap="square" rIns="45720">
            <a:spAutoFit/>
          </a:bodyPr>
          <a:lstStyle/>
          <a:p>
            <a:pPr>
              <a:spcAft>
                <a:spcPts val="1200"/>
              </a:spcAft>
              <a:defRPr sz="2300">
                <a:solidFill>
                  <a:srgbClr val="2B353D"/>
                </a:solidFill>
                <a:latin typeface="Aptos"/>
              </a:defRPr>
            </a:pPr>
            <a:r>
              <a:t>•  Cleaner streets and parks</a:t>
            </a:r>
          </a:p>
          <a:p>
            <a:pPr>
              <a:spcAft>
                <a:spcPts val="1200"/>
              </a:spcAft>
              <a:defRPr sz="2300">
                <a:solidFill>
                  <a:srgbClr val="2B353D"/>
                </a:solidFill>
                <a:latin typeface="Aptos"/>
              </a:defRPr>
            </a:pPr>
            <a:r>
              <a:t>•  Less rubbish left lying around</a:t>
            </a:r>
          </a:p>
          <a:p>
            <a:pPr>
              <a:spcAft>
                <a:spcPts val="1200"/>
              </a:spcAft>
              <a:defRPr sz="2300">
                <a:solidFill>
                  <a:srgbClr val="2B353D"/>
                </a:solidFill>
                <a:latin typeface="Aptos"/>
              </a:defRPr>
            </a:pPr>
            <a:r>
              <a:t>•  Support for good hygiene and public health</a:t>
            </a:r>
          </a:p>
          <a:p>
            <a:pPr>
              <a:spcAft>
                <a:spcPts val="1200"/>
              </a:spcAft>
              <a:defRPr sz="2300">
                <a:solidFill>
                  <a:srgbClr val="2B353D"/>
                </a:solidFill>
                <a:latin typeface="Aptos"/>
              </a:defRPr>
            </a:pPr>
            <a:r>
              <a:t>•  Recycling and better use of materials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26679" y="1554480"/>
            <a:ext cx="356616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289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91271" y="1664207"/>
            <a:ext cx="3236976" cy="38404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r>
              <a:rPr sz="1900" b="1">
                <a:solidFill>
                  <a:srgbClr val="F2893E"/>
                </a:solidFill>
                <a:latin typeface="Aptos"/>
              </a:rPr>
              <a:t>Think about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91271" y="2121408"/>
            <a:ext cx="3236976" cy="2633472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r>
              <a:rPr sz="1600" b="0">
                <a:solidFill>
                  <a:srgbClr val="2B353D"/>
                </a:solidFill>
                <a:latin typeface="Aptos"/>
              </a:rPr>
              <a:t>What might happen if nobody collected rubbish for a week?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5074920"/>
            <a:ext cx="3291840" cy="59436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ctr"/>
            <a:r>
              <a:rPr sz="1800" b="1">
                <a:solidFill>
                  <a:srgbClr val="1F9787"/>
                </a:solidFill>
                <a:latin typeface="Aptos"/>
              </a:rPr>
              <a:t>Discuss with your partner.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789920" cy="5029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r>
              <a:rPr sz="2700" b="1">
                <a:solidFill>
                  <a:srgbClr val="194366"/>
                </a:solidFill>
                <a:latin typeface="Aptos"/>
              </a:rPr>
              <a:t>A real example from India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32104"/>
            <a:ext cx="1188720" cy="64008"/>
          </a:xfrm>
          <a:prstGeom prst="rect">
            <a:avLst/>
          </a:prstGeom>
          <a:solidFill>
            <a:srgbClr val="F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r"/>
            <a:r>
              <a:rPr sz="1000" b="1">
                <a:solidFill>
                  <a:srgbClr val="194366"/>
                </a:solidFill>
                <a:latin typeface="Aptos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515600" cy="59436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r>
              <a:rPr sz="2400" b="1">
                <a:solidFill>
                  <a:srgbClr val="1F9787"/>
                </a:solidFill>
                <a:latin typeface="Aptos"/>
              </a:rPr>
              <a:t>SWaCH: Waste collectors working together in Pune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6675120" cy="3474720"/>
          </a:xfrm>
          <a:prstGeom prst="rect">
            <a:avLst/>
          </a:prstGeom>
          <a:noFill/>
        </p:spPr>
        <p:txBody>
          <a:bodyPr wrap="square" rIns="45720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B353D"/>
                </a:solidFill>
                <a:latin typeface="Aptos"/>
              </a:defRPr>
            </a:pPr>
            <a:r>
              <a:t>•  SWaCH is a cooperative that provides waste collection services.</a:t>
            </a:r>
          </a:p>
          <a:p>
            <a:pPr>
              <a:spcAft>
                <a:spcPts val="1200"/>
              </a:spcAft>
              <a:defRPr sz="2000">
                <a:solidFill>
                  <a:srgbClr val="2B353D"/>
                </a:solidFill>
                <a:latin typeface="Aptos"/>
              </a:defRPr>
            </a:pPr>
            <a:r>
              <a:t>•  Its workers collect waste and help separate recyclable materials.</a:t>
            </a:r>
          </a:p>
          <a:p>
            <a:pPr>
              <a:spcAft>
                <a:spcPts val="1200"/>
              </a:spcAft>
              <a:defRPr sz="2000">
                <a:solidFill>
                  <a:srgbClr val="2B353D"/>
                </a:solidFill>
                <a:latin typeface="Aptos"/>
              </a:defRPr>
            </a:pPr>
            <a:r>
              <a:t>•  Their work supports cleaner neighbourhoods and recycling.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1828800"/>
            <a:ext cx="3383280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289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82712" y="1938528"/>
            <a:ext cx="3054096" cy="38404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r>
              <a:rPr sz="1900" b="1">
                <a:solidFill>
                  <a:srgbClr val="F2893E"/>
                </a:solidFill>
                <a:latin typeface="Aptos"/>
              </a:rPr>
              <a:t>What can we learn?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82712" y="2395728"/>
            <a:ext cx="3054096" cy="2542032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r>
              <a:rPr sz="1600" b="0">
                <a:solidFill>
                  <a:srgbClr val="2B353D"/>
                </a:solidFill>
                <a:latin typeface="Aptos"/>
              </a:rPr>
              <a:t>Teamwork, care for the environment, and respect for every kind of honest work.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760720"/>
            <a:ext cx="10332720" cy="32004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r>
              <a:rPr sz="1100" b="0">
                <a:solidFill>
                  <a:srgbClr val="194366"/>
                </a:solidFill>
                <a:latin typeface="Aptos"/>
              </a:rPr>
              <a:t>Source: UN Environment Programme (UNEP), “Empowering waste workers for a cleaner, safer city.”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789920" cy="5029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r>
              <a:rPr sz="2700" b="1">
                <a:solidFill>
                  <a:srgbClr val="194366"/>
                </a:solidFill>
                <a:latin typeface="Aptos"/>
              </a:rPr>
              <a:t>How can children help?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32104"/>
            <a:ext cx="1188720" cy="64008"/>
          </a:xfrm>
          <a:prstGeom prst="rect">
            <a:avLst/>
          </a:prstGeom>
          <a:solidFill>
            <a:srgbClr val="F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r"/>
            <a:r>
              <a:rPr sz="1000" b="1">
                <a:solidFill>
                  <a:srgbClr val="194366"/>
                </a:solidFill>
                <a:latin typeface="Aptos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342900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9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435607"/>
            <a:ext cx="3099816" cy="38404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r>
              <a:rPr sz="1900" b="1">
                <a:solidFill>
                  <a:srgbClr val="1F9787"/>
                </a:solidFill>
                <a:latin typeface="Aptos"/>
              </a:rPr>
              <a:t>Put waste in bins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892807"/>
            <a:ext cx="3099816" cy="2816352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r>
              <a:rPr sz="1600" b="0">
                <a:solidFill>
                  <a:srgbClr val="2B353D"/>
                </a:solidFill>
                <a:latin typeface="Aptos"/>
              </a:rPr>
              <a:t>Use the correct bin and never litter.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25880"/>
            <a:ext cx="342900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289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53712" y="1435607"/>
            <a:ext cx="3099816" cy="38404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r>
              <a:rPr sz="1900" b="1">
                <a:solidFill>
                  <a:srgbClr val="F2893E"/>
                </a:solidFill>
                <a:latin typeface="Aptos"/>
              </a:rPr>
              <a:t>Reduce waste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1892807"/>
            <a:ext cx="3099816" cy="2816352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r>
              <a:rPr sz="1600" b="0">
                <a:solidFill>
                  <a:srgbClr val="2B353D"/>
                </a:solidFill>
                <a:latin typeface="Aptos"/>
              </a:rPr>
              <a:t>Reuse items and avoid unnecessary single-use plastic.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325880"/>
            <a:ext cx="342900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94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57031" y="1435607"/>
            <a:ext cx="3099816" cy="38404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r>
              <a:rPr sz="1900" b="1">
                <a:solidFill>
                  <a:srgbClr val="194366"/>
                </a:solidFill>
                <a:latin typeface="Aptos"/>
              </a:rPr>
              <a:t>Show respect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7031" y="1892807"/>
            <a:ext cx="3099816" cy="2816352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r>
              <a:rPr sz="1600" b="0">
                <a:solidFill>
                  <a:srgbClr val="2B353D"/>
                </a:solidFill>
                <a:latin typeface="Aptos"/>
              </a:rPr>
              <a:t>Say thank you. Speak politely. Never tease or look down on workers.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257800"/>
            <a:ext cx="10241280" cy="64008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ctr"/>
            <a:r>
              <a:rPr sz="2000" b="1">
                <a:solidFill>
                  <a:srgbClr val="1F9787"/>
                </a:solidFill>
                <a:latin typeface="Aptos"/>
              </a:rPr>
              <a:t>Our promise: “I will keep my surroundings clean and respect every worker.”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789920" cy="5029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r>
              <a:rPr sz="2700" b="1">
                <a:solidFill>
                  <a:srgbClr val="194366"/>
                </a:solidFill>
                <a:latin typeface="Aptos"/>
              </a:rPr>
              <a:t>Let’s check what we learned!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32104"/>
            <a:ext cx="1188720" cy="64008"/>
          </a:xfrm>
          <a:prstGeom prst="rect">
            <a:avLst/>
          </a:prstGeom>
          <a:solidFill>
            <a:srgbClr val="F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r"/>
            <a:r>
              <a:rPr sz="1000" b="1">
                <a:solidFill>
                  <a:srgbClr val="194366"/>
                </a:solidFill>
                <a:latin typeface="Aptos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234440"/>
            <a:ext cx="1051560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9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1344168"/>
            <a:ext cx="10186416" cy="38404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r>
              <a:rPr sz="1900" b="1">
                <a:solidFill>
                  <a:srgbClr val="1F9787"/>
                </a:solidFill>
                <a:latin typeface="Aptos"/>
              </a:rPr>
              <a:t>Question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1801368"/>
            <a:ext cx="10186416" cy="347472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r>
              <a:rPr sz="1600" b="0">
                <a:solidFill>
                  <a:srgbClr val="2B353D"/>
                </a:solidFill>
                <a:latin typeface="Aptos"/>
              </a:rPr>
              <a:t>1. What does a Safai Mitra help do?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560320"/>
            <a:ext cx="1051560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289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87552" y="2670048"/>
            <a:ext cx="10186416" cy="38404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r>
              <a:rPr sz="1900" b="1">
                <a:solidFill>
                  <a:srgbClr val="F2893E"/>
                </a:solidFill>
                <a:latin typeface="Aptos"/>
              </a:rPr>
              <a:t>Question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3127248"/>
            <a:ext cx="10186416" cy="347472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r>
              <a:rPr sz="1600" b="0">
                <a:solidFill>
                  <a:srgbClr val="2B353D"/>
                </a:solidFill>
                <a:latin typeface="Aptos"/>
              </a:rPr>
              <a:t>2. Name one way children can help keep the community clean.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886200"/>
            <a:ext cx="1051560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94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7552" y="3995928"/>
            <a:ext cx="10186416" cy="38404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r>
              <a:rPr sz="1900" b="1">
                <a:solidFill>
                  <a:srgbClr val="194366"/>
                </a:solidFill>
                <a:latin typeface="Aptos"/>
              </a:rPr>
              <a:t>Question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4453128"/>
            <a:ext cx="10186416" cy="347472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r>
              <a:rPr sz="1600" b="0">
                <a:solidFill>
                  <a:srgbClr val="2B353D"/>
                </a:solidFill>
                <a:latin typeface="Aptos"/>
              </a:rPr>
              <a:t>3. Why should we respect sanitation workers?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486400"/>
            <a:ext cx="10149840" cy="59436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ctr"/>
            <a:r>
              <a:rPr sz="2700" b="1">
                <a:solidFill>
                  <a:srgbClr val="1F9787"/>
                </a:solidFill>
                <a:latin typeface="Aptos"/>
              </a:rPr>
              <a:t>Thank you to our community heroes!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789920" cy="5029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r>
              <a:rPr sz="2700" b="1">
                <a:solidFill>
                  <a:srgbClr val="194366"/>
                </a:solidFill>
                <a:latin typeface="Aptos"/>
              </a:rPr>
              <a:t>Teacher note &amp; 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32104"/>
            <a:ext cx="1188720" cy="64008"/>
          </a:xfrm>
          <a:prstGeom prst="rect">
            <a:avLst/>
          </a:prstGeom>
          <a:solidFill>
            <a:srgbClr val="F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r"/>
            <a:r>
              <a:rPr sz="1000" b="1">
                <a:solidFill>
                  <a:srgbClr val="194366"/>
                </a:solidFill>
                <a:latin typeface="Aptos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r>
              <a:rPr sz="2200" b="1" dirty="0">
                <a:solidFill>
                  <a:srgbClr val="1F9787"/>
                </a:solidFill>
                <a:latin typeface="Aptos"/>
              </a:rPr>
              <a:t>Key message for students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332720" cy="91440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r>
              <a:rPr sz="2000" b="0" dirty="0">
                <a:solidFill>
                  <a:srgbClr val="2B353D"/>
                </a:solidFill>
                <a:latin typeface="Aptos"/>
              </a:rPr>
              <a:t>Sanitation workers provide an essential service. They deserve safe working conditions, dignity and respect.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01606"/>
            <a:ext cx="10515600" cy="421654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r>
              <a:rPr sz="2200" b="1" dirty="0">
                <a:solidFill>
                  <a:srgbClr val="1F9787"/>
                </a:solidFill>
                <a:latin typeface="Aptos"/>
              </a:rPr>
              <a:t>Sources for the</a:t>
            </a:r>
            <a:r>
              <a:rPr lang="en-US" sz="2200" b="1" dirty="0">
                <a:solidFill>
                  <a:srgbClr val="1F9787"/>
                </a:solidFill>
                <a:latin typeface="Aptos"/>
              </a:rPr>
              <a:t> Students</a:t>
            </a:r>
            <a:endParaRPr sz="2200" b="1" dirty="0">
              <a:solidFill>
                <a:srgbClr val="1F9787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3474720"/>
            <a:ext cx="10424160" cy="64008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r>
              <a:rPr sz="1600" b="0" dirty="0">
                <a:solidFill>
                  <a:srgbClr val="2B353D"/>
                </a:solidFill>
                <a:latin typeface="Aptos"/>
              </a:rPr>
              <a:t>• UN Environment </a:t>
            </a:r>
            <a:r>
              <a:rPr sz="1600" b="0" dirty="0" err="1">
                <a:solidFill>
                  <a:srgbClr val="2B353D"/>
                </a:solidFill>
                <a:latin typeface="Aptos"/>
              </a:rPr>
              <a:t>Programme</a:t>
            </a:r>
            <a:r>
              <a:rPr sz="1600" b="0" dirty="0">
                <a:solidFill>
                  <a:srgbClr val="2B353D"/>
                </a:solidFill>
                <a:latin typeface="Aptos"/>
              </a:rPr>
              <a:t> (UNEP): Empowering waste workers for a cleaner, safer city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046220"/>
            <a:ext cx="10058400" cy="41148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r>
              <a:rPr sz="1200" b="0" dirty="0">
                <a:solidFill>
                  <a:srgbClr val="194366"/>
                </a:solidFill>
                <a:latin typeface="Aptos"/>
              </a:rPr>
              <a:t>https://www.unep.org/en/news-and-stories/story/empowering-waste-workers-cleaner-safer-city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572000"/>
            <a:ext cx="10424160" cy="59436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r>
              <a:rPr sz="1600" b="0">
                <a:solidFill>
                  <a:srgbClr val="2B353D"/>
                </a:solidFill>
                <a:latin typeface="Aptos"/>
              </a:rPr>
              <a:t>• Swachh Bharat Mission: Safety, dignity and support for sanitation workers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074920"/>
            <a:ext cx="10058400" cy="41148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r>
              <a:rPr sz="1000" b="0">
                <a:solidFill>
                  <a:srgbClr val="194366"/>
                </a:solidFill>
                <a:latin typeface="Aptos"/>
              </a:rPr>
              <a:t>https://swachhbharatmission.ddws.gov.in/sites/default/files/Technical-Notes/SOP-Safety-and-Dignity-of-Sanitation-Workers-in-Rural-India.pdf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FF9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789920" cy="513987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r>
              <a:rPr lang="en-IN" sz="2800" b="1" dirty="0">
                <a:solidFill>
                  <a:srgbClr val="1F9787"/>
                </a:solidFill>
                <a:latin typeface="Aptos"/>
              </a:rPr>
              <a:t>Sources for the Students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32104"/>
            <a:ext cx="1188720" cy="64008"/>
          </a:xfrm>
          <a:prstGeom prst="rect">
            <a:avLst/>
          </a:prstGeom>
          <a:solidFill>
            <a:srgbClr val="F28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22860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r"/>
            <a:r>
              <a:rPr sz="1000" b="1">
                <a:solidFill>
                  <a:srgbClr val="194366"/>
                </a:solidFill>
                <a:latin typeface="Aptos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01296"/>
            <a:ext cx="10515600" cy="3006977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r>
              <a:rPr lang="en-US" sz="2400" dirty="0"/>
              <a:t>1. What is PowerPoint?</a:t>
            </a:r>
            <a:br>
              <a:rPr lang="en-US" sz="2400" dirty="0"/>
            </a:br>
            <a:r>
              <a:rPr lang="en-US" sz="2400" dirty="0">
                <a:hlinkClick r:id="rId2"/>
              </a:rPr>
              <a:t>https://support.microsoft.com/en-us/office/what-is-powerpoint-589c860d-d199-4a85-ad1b-4b7401facd5b</a:t>
            </a:r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2. Start with a PowerPoint template</a:t>
            </a:r>
            <a:br>
              <a:rPr lang="en-US" sz="2400" dirty="0"/>
            </a:br>
            <a:r>
              <a:rPr lang="en-US" sz="2400" dirty="0">
                <a:hlinkClick r:id="rId3"/>
              </a:rPr>
              <a:t>https://support.microsoft.com/en-us/office/start-with-a-template-d3d4aca5-e965-45eb-9423-c34e61b34616</a:t>
            </a:r>
            <a:endParaRPr lang="en-US" sz="2400" dirty="0"/>
          </a:p>
          <a:p>
            <a:endParaRPr lang="en-US" sz="2200" b="1" dirty="0">
              <a:solidFill>
                <a:srgbClr val="1F9787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10332720" cy="390876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endParaRPr lang="en-IN" sz="2000" b="0" dirty="0">
              <a:solidFill>
                <a:srgbClr val="2B353D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1994834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Words>562</Words>
  <Application>Microsoft Office PowerPoint</Application>
  <PresentationFormat>Widescreen</PresentationFormat>
  <Paragraphs>72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KSFC Lab PC-21</dc:creator>
  <cp:keywords/>
  <dc:description>generated using python-pptx</dc:description>
  <cp:lastModifiedBy>KSFC Lab PC-21</cp:lastModifiedBy>
  <cp:revision>5</cp:revision>
  <dcterms:created xsi:type="dcterms:W3CDTF">2013-01-27T09:14:16Z</dcterms:created>
  <dcterms:modified xsi:type="dcterms:W3CDTF">2026-10-26T08:15:14Z</dcterms:modified>
  <cp:category/>
</cp:coreProperties>
</file>